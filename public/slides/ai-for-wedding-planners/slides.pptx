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777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9489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WEDDING PLANNERS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1737360"/>
            <a:ext cx="87782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5200" dirty="0">
                <a:solidFill>
                  <a:srgbClr val="2B24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for the work
you do between
</a:t>
            </a:r>
            <a:pPr algn="l" indent="0" marL="0">
              <a:lnSpc>
                <a:spcPct val="102000"/>
              </a:lnSpc>
              <a:buNone/>
            </a:pPr>
            <a:r>
              <a:rPr lang="en-US" sz="5200" i="1" dirty="0">
                <a:solidFill>
                  <a:srgbClr val="A957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magic.</a:t>
            </a:r>
            <a:endParaRPr lang="en-US" sz="5200" dirty="0"/>
          </a:p>
        </p:txBody>
      </p:sp>
      <p:sp>
        <p:nvSpPr>
          <p:cNvPr id="4" name="Shape 2"/>
          <p:cNvSpPr/>
          <p:nvPr/>
        </p:nvSpPr>
        <p:spPr>
          <a:xfrm>
            <a:off x="10561320" y="2148840"/>
            <a:ext cx="457200" cy="457200"/>
          </a:xfrm>
          <a:prstGeom prst="diamond">
            <a:avLst/>
          </a:prstGeom>
          <a:solidFill>
            <a:srgbClr val="A9573F"/>
          </a:solidFill>
          <a:ln/>
        </p:spPr>
      </p:sp>
      <p:sp>
        <p:nvSpPr>
          <p:cNvPr id="5" name="Shape 3"/>
          <p:cNvSpPr/>
          <p:nvPr/>
        </p:nvSpPr>
        <p:spPr>
          <a:xfrm>
            <a:off x="10716768" y="2999232"/>
            <a:ext cx="256032" cy="256032"/>
          </a:xfrm>
          <a:prstGeom prst="diamond">
            <a:avLst/>
          </a:prstGeom>
          <a:ln w="15875">
            <a:solidFill>
              <a:srgbClr val="A9573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489204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100" i="1" dirty="0">
                <a:solidFill>
                  <a:srgbClr val="5C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Save time on first drafts.
</a:t>
            </a:r>
            <a:pPr indent="0" marL="0">
              <a:lnSpc>
                <a:spcPct val="115000"/>
              </a:lnSpc>
              <a:buNone/>
            </a:pPr>
            <a:r>
              <a:rPr lang="en-US" sz="2100" i="1" dirty="0">
                <a:solidFill>
                  <a:srgbClr val="5C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Keep the human part yours.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685800" y="614476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9489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PRACTICAL INTRODUCTION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2062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9489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PRACTICAL INTRODUCTION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774375" y="420624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9489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85800" y="114300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700" dirty="0">
                <a:solidFill>
                  <a:srgbClr val="2B24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is an assistant — </a:t>
            </a:r>
            <a:pPr indent="0" marL="0">
              <a:buNone/>
            </a:pPr>
            <a:r>
              <a:rPr lang="en-US" sz="3700" i="1" dirty="0">
                <a:solidFill>
                  <a:srgbClr val="A957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the planner.</a:t>
            </a:r>
            <a:endParaRPr lang="en-US" sz="3700" dirty="0"/>
          </a:p>
        </p:txBody>
      </p:sp>
      <p:sp>
        <p:nvSpPr>
          <p:cNvPr id="5" name="Text 3"/>
          <p:cNvSpPr/>
          <p:nvPr/>
        </p:nvSpPr>
        <p:spPr>
          <a:xfrm>
            <a:off x="685800" y="224028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i="1" dirty="0">
                <a:solidFill>
                  <a:srgbClr val="5C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is especially good at the work that begins with a blank page.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685800" y="3739896"/>
            <a:ext cx="146304" cy="146304"/>
          </a:xfrm>
          <a:prstGeom prst="diamond">
            <a:avLst/>
          </a:prstGeom>
          <a:solidFill>
            <a:srgbClr val="A9573F"/>
          </a:solidFill>
          <a:ln/>
        </p:spPr>
      </p:sp>
      <p:sp>
        <p:nvSpPr>
          <p:cNvPr id="7" name="Text 5"/>
          <p:cNvSpPr/>
          <p:nvPr/>
        </p:nvSpPr>
        <p:spPr>
          <a:xfrm>
            <a:off x="996696" y="3602736"/>
            <a:ext cx="46268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2B24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Let AI draft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996696" y="4160520"/>
            <a:ext cx="462686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600" dirty="0">
                <a:solidFill>
                  <a:srgbClr val="5C53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Emails, checklists, timelines, comparisons, captions, and first-pass ideas.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537960" y="3739896"/>
            <a:ext cx="146304" cy="146304"/>
          </a:xfrm>
          <a:prstGeom prst="diamond">
            <a:avLst/>
          </a:prstGeom>
          <a:solidFill>
            <a:srgbClr val="A9573F"/>
          </a:solidFill>
          <a:ln/>
        </p:spPr>
      </p:sp>
      <p:sp>
        <p:nvSpPr>
          <p:cNvPr id="10" name="Text 8"/>
          <p:cNvSpPr/>
          <p:nvPr/>
        </p:nvSpPr>
        <p:spPr>
          <a:xfrm>
            <a:off x="6848856" y="3602736"/>
            <a:ext cx="46268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2B24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decide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6848856" y="4160520"/>
            <a:ext cx="462686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600" dirty="0">
                <a:solidFill>
                  <a:srgbClr val="5C53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Tone, taste, trust, vendor relationships, and what is right for each couple.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035040" y="3657600"/>
            <a:ext cx="0" cy="1371600"/>
          </a:xfrm>
          <a:prstGeom prst="line">
            <a:avLst/>
          </a:prstGeom>
          <a:noFill/>
          <a:ln w="12700">
            <a:solidFill>
              <a:srgbClr val="E4DACD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2062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9489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THINK IN MOMENTS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774375" y="420624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9489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85800" y="114300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700" dirty="0">
                <a:solidFill>
                  <a:srgbClr val="2B24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helps across the </a:t>
            </a:r>
            <a:pPr indent="0" marL="0">
              <a:buNone/>
            </a:pPr>
            <a:r>
              <a:rPr lang="en-US" sz="3700" i="1" dirty="0">
                <a:solidFill>
                  <a:srgbClr val="A957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client journey.</a:t>
            </a:r>
            <a:endParaRPr lang="en-US" sz="3700" dirty="0"/>
          </a:p>
        </p:txBody>
      </p:sp>
      <p:sp>
        <p:nvSpPr>
          <p:cNvPr id="5" name="Shape 3"/>
          <p:cNvSpPr/>
          <p:nvPr/>
        </p:nvSpPr>
        <p:spPr>
          <a:xfrm>
            <a:off x="1665397" y="2532888"/>
            <a:ext cx="8860902" cy="0"/>
          </a:xfrm>
          <a:prstGeom prst="line">
            <a:avLst/>
          </a:prstGeom>
          <a:noFill/>
          <a:ln w="15875">
            <a:solidFill>
              <a:srgbClr val="E4DAC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619677" y="2487168"/>
            <a:ext cx="91440" cy="91440"/>
          </a:xfrm>
          <a:prstGeom prst="ellipse">
            <a:avLst/>
          </a:prstGeom>
          <a:solidFill>
            <a:srgbClr val="A9573F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2788920"/>
            <a:ext cx="195919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A957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85800" y="3154680"/>
            <a:ext cx="195919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rgbClr val="2B24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Inquire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640080" y="3703320"/>
            <a:ext cx="2050633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5C53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Reply warmly.</a:t>
            </a:r>
            <a:endParaRPr lang="en-US" sz="135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5C53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better questions.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3834902" y="2487168"/>
            <a:ext cx="91440" cy="91440"/>
          </a:xfrm>
          <a:prstGeom prst="ellipse">
            <a:avLst/>
          </a:prstGeom>
          <a:solidFill>
            <a:srgbClr val="A9573F"/>
          </a:solidFill>
          <a:ln/>
        </p:spPr>
      </p:sp>
      <p:sp>
        <p:nvSpPr>
          <p:cNvPr id="11" name="Text 9"/>
          <p:cNvSpPr/>
          <p:nvPr/>
        </p:nvSpPr>
        <p:spPr>
          <a:xfrm>
            <a:off x="2901025" y="2788920"/>
            <a:ext cx="195919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A957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901025" y="3154680"/>
            <a:ext cx="195919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rgbClr val="2B24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2855305" y="3703320"/>
            <a:ext cx="2050633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5C53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 options.</a:t>
            </a:r>
            <a:endParaRPr lang="en-US" sz="135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5C53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first drafts.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050128" y="2487168"/>
            <a:ext cx="91440" cy="91440"/>
          </a:xfrm>
          <a:prstGeom prst="ellipse">
            <a:avLst/>
          </a:prstGeom>
          <a:solidFill>
            <a:srgbClr val="A9573F"/>
          </a:solidFill>
          <a:ln/>
        </p:spPr>
      </p:sp>
      <p:sp>
        <p:nvSpPr>
          <p:cNvPr id="15" name="Text 13"/>
          <p:cNvSpPr/>
          <p:nvPr/>
        </p:nvSpPr>
        <p:spPr>
          <a:xfrm>
            <a:off x="5116251" y="2788920"/>
            <a:ext cx="195919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A957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116251" y="3154680"/>
            <a:ext cx="195919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rgbClr val="2B24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Create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5070531" y="3703320"/>
            <a:ext cx="2050633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5C53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Clarify vision.</a:t>
            </a:r>
            <a:endParaRPr lang="en-US" sz="135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5C53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client-facing copy.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8265353" y="2487168"/>
            <a:ext cx="91440" cy="91440"/>
          </a:xfrm>
          <a:prstGeom prst="ellipse">
            <a:avLst/>
          </a:prstGeom>
          <a:solidFill>
            <a:srgbClr val="A9573F"/>
          </a:solidFill>
          <a:ln/>
        </p:spPr>
      </p:sp>
      <p:sp>
        <p:nvSpPr>
          <p:cNvPr id="19" name="Text 17"/>
          <p:cNvSpPr/>
          <p:nvPr/>
        </p:nvSpPr>
        <p:spPr>
          <a:xfrm>
            <a:off x="7331476" y="2788920"/>
            <a:ext cx="195919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A957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331476" y="3154680"/>
            <a:ext cx="195919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rgbClr val="2B24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Deliver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7285756" y="3703320"/>
            <a:ext cx="2050633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5C53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schedules.</a:t>
            </a:r>
            <a:endParaRPr lang="en-US" sz="135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5C53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 contingencies.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10480578" y="2487168"/>
            <a:ext cx="91440" cy="91440"/>
          </a:xfrm>
          <a:prstGeom prst="ellipse">
            <a:avLst/>
          </a:prstGeom>
          <a:solidFill>
            <a:srgbClr val="A9573F"/>
          </a:solidFill>
          <a:ln/>
        </p:spPr>
      </p:sp>
      <p:sp>
        <p:nvSpPr>
          <p:cNvPr id="23" name="Text 21"/>
          <p:cNvSpPr/>
          <p:nvPr/>
        </p:nvSpPr>
        <p:spPr>
          <a:xfrm>
            <a:off x="9546702" y="2788920"/>
            <a:ext cx="195919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A957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546702" y="3154680"/>
            <a:ext cx="195919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rgbClr val="2B24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Follow up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9500982" y="3703320"/>
            <a:ext cx="2050633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5C53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Thank-you notes.</a:t>
            </a:r>
            <a:endParaRPr lang="en-US" sz="135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5C53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Reviews and content.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685800" y="580644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5C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Choose one repeated task. Let AI give you a starting point.</a:t>
            </a:r>
            <a:endParaRPr lang="en-US" sz="1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2062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9489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USEFUL STUFF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774375" y="420624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9489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85800" y="114300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700" dirty="0">
                <a:solidFill>
                  <a:srgbClr val="2B24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Eight places to start </a:t>
            </a:r>
            <a:pPr indent="0" marL="0">
              <a:buNone/>
            </a:pPr>
            <a:r>
              <a:rPr lang="en-US" sz="3700" i="1" dirty="0">
                <a:solidFill>
                  <a:srgbClr val="A957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tomorrow.</a:t>
            </a:r>
            <a:endParaRPr lang="en-US" sz="3700" dirty="0"/>
          </a:p>
        </p:txBody>
      </p:sp>
      <p:sp>
        <p:nvSpPr>
          <p:cNvPr id="5" name="Text 3"/>
          <p:cNvSpPr/>
          <p:nvPr/>
        </p:nvSpPr>
        <p:spPr>
          <a:xfrm>
            <a:off x="685800" y="267004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A957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252728" y="26517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50" dirty="0">
                <a:solidFill>
                  <a:srgbClr val="2B24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Lead replies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1252728" y="3044952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C53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Fast, warm, on-brand first drafts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400800" y="267004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A957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6967728" y="26517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50" dirty="0">
                <a:solidFill>
                  <a:srgbClr val="2B24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Vendor comparisons</a:t>
            </a:r>
            <a:endParaRPr lang="en-US" sz="1850" dirty="0"/>
          </a:p>
        </p:txBody>
      </p:sp>
      <p:sp>
        <p:nvSpPr>
          <p:cNvPr id="10" name="Text 8"/>
          <p:cNvSpPr/>
          <p:nvPr/>
        </p:nvSpPr>
        <p:spPr>
          <a:xfrm>
            <a:off x="6967728" y="3044952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C53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 notes into a clear recommendation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85800" y="351129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A957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1252728" y="349300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50" dirty="0">
                <a:solidFill>
                  <a:srgbClr val="2B24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Client briefs</a:t>
            </a:r>
            <a:endParaRPr lang="en-US" sz="1850" dirty="0"/>
          </a:p>
        </p:txBody>
      </p:sp>
      <p:sp>
        <p:nvSpPr>
          <p:cNvPr id="13" name="Text 11"/>
          <p:cNvSpPr/>
          <p:nvPr/>
        </p:nvSpPr>
        <p:spPr>
          <a:xfrm>
            <a:off x="1252728" y="388620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C53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priorities and unanswered questions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400800" y="351129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A957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6967728" y="349300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50" dirty="0">
                <a:solidFill>
                  <a:srgbClr val="2B24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Timelines</a:t>
            </a:r>
            <a:endParaRPr lang="en-US" sz="1850" dirty="0"/>
          </a:p>
        </p:txBody>
      </p:sp>
      <p:sp>
        <p:nvSpPr>
          <p:cNvPr id="16" name="Text 14"/>
          <p:cNvSpPr/>
          <p:nvPr/>
        </p:nvSpPr>
        <p:spPr>
          <a:xfrm>
            <a:off x="6967728" y="388620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C53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a workable first version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85800" y="435254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A957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1252728" y="433425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50" dirty="0">
                <a:solidFill>
                  <a:srgbClr val="2B24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Budget reviews</a:t>
            </a:r>
            <a:endParaRPr lang="en-US" sz="1850" dirty="0"/>
          </a:p>
        </p:txBody>
      </p:sp>
      <p:sp>
        <p:nvSpPr>
          <p:cNvPr id="19" name="Text 17"/>
          <p:cNvSpPr/>
          <p:nvPr/>
        </p:nvSpPr>
        <p:spPr>
          <a:xfrm>
            <a:off x="1252728" y="4727448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C53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Spot missing categories and tradeoffs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6400800" y="435254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A957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6967728" y="433425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50" dirty="0">
                <a:solidFill>
                  <a:srgbClr val="2B24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Guest experience</a:t>
            </a:r>
            <a:endParaRPr lang="en-US" sz="1850" dirty="0"/>
          </a:p>
        </p:txBody>
      </p:sp>
      <p:sp>
        <p:nvSpPr>
          <p:cNvPr id="22" name="Text 20"/>
          <p:cNvSpPr/>
          <p:nvPr/>
        </p:nvSpPr>
        <p:spPr>
          <a:xfrm>
            <a:off x="6967728" y="4727448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C53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Welcome guides, signage, FAQs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685800" y="519379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A957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1900" dirty="0"/>
          </a:p>
        </p:txBody>
      </p:sp>
      <p:sp>
        <p:nvSpPr>
          <p:cNvPr id="24" name="Text 22"/>
          <p:cNvSpPr/>
          <p:nvPr/>
        </p:nvSpPr>
        <p:spPr>
          <a:xfrm>
            <a:off x="1252728" y="5175504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50" dirty="0">
                <a:solidFill>
                  <a:srgbClr val="2B24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Marketing</a:t>
            </a:r>
            <a:endParaRPr lang="en-US" sz="1850" dirty="0"/>
          </a:p>
        </p:txBody>
      </p:sp>
      <p:sp>
        <p:nvSpPr>
          <p:cNvPr id="25" name="Text 23"/>
          <p:cNvSpPr/>
          <p:nvPr/>
        </p:nvSpPr>
        <p:spPr>
          <a:xfrm>
            <a:off x="1252728" y="5568696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C53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Captions, blog ideas, newsletters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6400800" y="519379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A957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1900" dirty="0"/>
          </a:p>
        </p:txBody>
      </p:sp>
      <p:sp>
        <p:nvSpPr>
          <p:cNvPr id="27" name="Text 25"/>
          <p:cNvSpPr/>
          <p:nvPr/>
        </p:nvSpPr>
        <p:spPr>
          <a:xfrm>
            <a:off x="6967728" y="5175504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50" dirty="0">
                <a:solidFill>
                  <a:srgbClr val="2B24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playbook</a:t>
            </a:r>
            <a:endParaRPr lang="en-US" sz="1850" dirty="0"/>
          </a:p>
        </p:txBody>
      </p:sp>
      <p:sp>
        <p:nvSpPr>
          <p:cNvPr id="28" name="Text 26"/>
          <p:cNvSpPr/>
          <p:nvPr/>
        </p:nvSpPr>
        <p:spPr>
          <a:xfrm>
            <a:off x="6967728" y="5568696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C53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SOPs that make the business repeatable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2062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9489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EASIEST WAY TO PROMPT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774375" y="420624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9489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85800" y="114300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700" dirty="0">
                <a:solidFill>
                  <a:srgbClr val="2B24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five-part </a:t>
            </a:r>
            <a:pPr indent="0" marL="0">
              <a:buNone/>
            </a:pPr>
            <a:r>
              <a:rPr lang="en-US" sz="3700" i="1" dirty="0">
                <a:solidFill>
                  <a:srgbClr val="A957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prompt recipe.</a:t>
            </a:r>
            <a:endParaRPr lang="en-US" sz="3700" dirty="0"/>
          </a:p>
        </p:txBody>
      </p:sp>
      <p:sp>
        <p:nvSpPr>
          <p:cNvPr id="5" name="Text 3"/>
          <p:cNvSpPr/>
          <p:nvPr/>
        </p:nvSpPr>
        <p:spPr>
          <a:xfrm>
            <a:off x="777240" y="25146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A957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417320" y="25146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B24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Role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3108960" y="2542032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C53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are helping a wedding planner.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85800" y="3054096"/>
            <a:ext cx="10820095" cy="0"/>
          </a:xfrm>
          <a:prstGeom prst="line">
            <a:avLst/>
          </a:prstGeom>
          <a:noFill/>
          <a:ln w="9525">
            <a:solidFill>
              <a:srgbClr val="E4DAC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317296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A957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417320" y="317296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B24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108960" y="3200400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C53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Here are my notes / this couple’s priorities.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85800" y="3712464"/>
            <a:ext cx="10820095" cy="0"/>
          </a:xfrm>
          <a:prstGeom prst="line">
            <a:avLst/>
          </a:prstGeom>
          <a:noFill/>
          <a:ln w="9525">
            <a:solidFill>
              <a:srgbClr val="E4DAC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3831336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A957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417320" y="3831336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B24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Goal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3108960" y="3858768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C53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a first draft of…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85800" y="4370832"/>
            <a:ext cx="10820095" cy="0"/>
          </a:xfrm>
          <a:prstGeom prst="line">
            <a:avLst/>
          </a:prstGeom>
          <a:noFill/>
          <a:ln w="9525">
            <a:solidFill>
              <a:srgbClr val="E4DAC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4489704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A957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417320" y="4489704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B24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Format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3108960" y="4517136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C53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email / table / timeline / checklist.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85800" y="5029200"/>
            <a:ext cx="10820095" cy="0"/>
          </a:xfrm>
          <a:prstGeom prst="line">
            <a:avLst/>
          </a:prstGeom>
          <a:noFill/>
          <a:ln w="9525">
            <a:solidFill>
              <a:srgbClr val="E4DAC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514807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A957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417320" y="514807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B24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Voice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3108960" y="5175504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C53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Warm, polished, direct, playful, luxury…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2062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9489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DEMO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774375" y="420624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9489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85800" y="114300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700" dirty="0">
                <a:solidFill>
                  <a:srgbClr val="2B24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Let’s turn one inquiry into </a:t>
            </a:r>
            <a:pPr indent="0" marL="0">
              <a:buNone/>
            </a:pPr>
            <a:r>
              <a:rPr lang="en-US" sz="3700" i="1" dirty="0">
                <a:solidFill>
                  <a:srgbClr val="A957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warm reply.</a:t>
            </a:r>
            <a:endParaRPr lang="en-US" sz="3700" dirty="0"/>
          </a:p>
        </p:txBody>
      </p:sp>
      <p:sp>
        <p:nvSpPr>
          <p:cNvPr id="5" name="Shape 3"/>
          <p:cNvSpPr/>
          <p:nvPr/>
        </p:nvSpPr>
        <p:spPr>
          <a:xfrm>
            <a:off x="685800" y="2395728"/>
            <a:ext cx="5213452" cy="3127248"/>
          </a:xfrm>
          <a:prstGeom prst="rect">
            <a:avLst/>
          </a:prstGeom>
          <a:solidFill>
            <a:srgbClr val="F0E7DD"/>
          </a:solidFill>
          <a:ln w="12700">
            <a:solidFill>
              <a:srgbClr val="E4DAC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1560" y="2670048"/>
            <a:ext cx="44819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A957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REAL INQUIRY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51560" y="3145536"/>
            <a:ext cx="4481932" cy="2075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650" i="1" dirty="0">
                <a:solidFill>
                  <a:srgbClr val="2B24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“Hi! We’re getting married next fall — maybe October, somewhere outdoorsy. Around 100 people? We’re feeling a little overwhelmed and don’t know where to start. Do you do this kind of thing?”</a:t>
            </a:r>
            <a:endParaRPr lang="en-US" sz="1650" dirty="0"/>
          </a:p>
          <a:p>
            <a:pPr indent="0" marL="0">
              <a:lnSpc>
                <a:spcPct val="130000"/>
              </a:lnSpc>
              <a:buNone/>
            </a:pPr>
            <a:endParaRPr lang="en-US" sz="16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50" i="1" dirty="0">
                <a:solidFill>
                  <a:srgbClr val="2B24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— Jamie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6292444" y="2395728"/>
            <a:ext cx="5213452" cy="3127248"/>
          </a:xfrm>
          <a:prstGeom prst="rect">
            <a:avLst/>
          </a:prstGeom>
          <a:solidFill>
            <a:srgbClr val="F0E7DD"/>
          </a:solidFill>
          <a:ln w="12700">
            <a:solidFill>
              <a:srgbClr val="E4DAC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58204" y="2670048"/>
            <a:ext cx="44819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A957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PASTE THIS PROMPT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658204" y="3145536"/>
            <a:ext cx="4481932" cy="2075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2B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are helping a wedding planner. Draft a warm, confident reply to the inquiry on the left. Thank them, reflect back the two details that matter most, ask three helpful questions, and invite them to a discovery call. Keep it under 180 words.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85800" y="5779008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C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Then read the first line aloud and change it so it sounds like you. That edit is the whole point.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2062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9489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EXAMPLE 01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774375" y="420624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9489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85800" y="114300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700" dirty="0">
                <a:solidFill>
                  <a:srgbClr val="2B24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Turn a lead email into a </a:t>
            </a:r>
            <a:pPr indent="0" marL="0">
              <a:buNone/>
            </a:pPr>
            <a:r>
              <a:rPr lang="en-US" sz="3700" i="1" dirty="0">
                <a:solidFill>
                  <a:srgbClr val="A957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thoughtful reply.</a:t>
            </a:r>
            <a:endParaRPr lang="en-US" sz="3700" dirty="0"/>
          </a:p>
        </p:txBody>
      </p:sp>
      <p:sp>
        <p:nvSpPr>
          <p:cNvPr id="5" name="Shape 3"/>
          <p:cNvSpPr/>
          <p:nvPr/>
        </p:nvSpPr>
        <p:spPr>
          <a:xfrm>
            <a:off x="685800" y="2468880"/>
            <a:ext cx="10820095" cy="2880360"/>
          </a:xfrm>
          <a:prstGeom prst="rect">
            <a:avLst/>
          </a:prstGeom>
          <a:solidFill>
            <a:srgbClr val="F0E7DD"/>
          </a:solidFill>
          <a:ln w="12700">
            <a:solidFill>
              <a:srgbClr val="E4DAC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3000" y="27889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A957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COPY / PASTE THIS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143000" y="3246120"/>
            <a:ext cx="9905695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650" dirty="0">
                <a:solidFill>
                  <a:srgbClr val="2B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are helping a wedding planner. Draft a warm, confident response to this inquiry. Thank them, reflect back the two details that matter most, ask three helpful follow-up questions, and invite them to book a discovery call. Keep it polished, personal, and under 180 words.
</a:t>
            </a:r>
            <a:pPr indent="0" marL="0">
              <a:lnSpc>
                <a:spcPct val="132000"/>
              </a:lnSpc>
              <a:buNone/>
            </a:pPr>
            <a:r>
              <a:rPr lang="en-US" sz="1650" dirty="0">
                <a:solidFill>
                  <a:srgbClr val="9489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Inquiry: [paste anonymized email here]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685800" y="571500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C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Then: make the first sentence sound like you before you hit send.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2062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9489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EXAMPLE 02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774375" y="420624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9489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85800" y="114300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700" dirty="0">
                <a:solidFill>
                  <a:srgbClr val="2B24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Turn client calls into a </a:t>
            </a:r>
            <a:pPr indent="0" marL="0">
              <a:buNone/>
            </a:pPr>
            <a:r>
              <a:rPr lang="en-US" sz="3700" i="1" dirty="0">
                <a:solidFill>
                  <a:srgbClr val="A957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planning brief.</a:t>
            </a:r>
            <a:endParaRPr lang="en-US" sz="3700" dirty="0"/>
          </a:p>
        </p:txBody>
      </p:sp>
      <p:sp>
        <p:nvSpPr>
          <p:cNvPr id="5" name="Shape 3"/>
          <p:cNvSpPr/>
          <p:nvPr/>
        </p:nvSpPr>
        <p:spPr>
          <a:xfrm>
            <a:off x="685800" y="2468880"/>
            <a:ext cx="10820095" cy="2880360"/>
          </a:xfrm>
          <a:prstGeom prst="rect">
            <a:avLst/>
          </a:prstGeom>
          <a:solidFill>
            <a:srgbClr val="F0E7DD"/>
          </a:solidFill>
          <a:ln w="12700">
            <a:solidFill>
              <a:srgbClr val="E4DAC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3000" y="27889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A957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COPY / PASTE THIS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143000" y="3246120"/>
            <a:ext cx="9905695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650" dirty="0">
                <a:solidFill>
                  <a:srgbClr val="2B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are helping a wedding planner. Read these client-call notes and create a one-page planning brief with: their top priorities, style words, budget sensitivities, decisions still needed, potential risks, and five smart questions for our next meeting. Use a calm, clear format.
</a:t>
            </a:r>
            <a:pPr indent="0" marL="0">
              <a:lnSpc>
                <a:spcPct val="132000"/>
              </a:lnSpc>
              <a:buNone/>
            </a:pPr>
            <a:r>
              <a:rPr lang="en-US" sz="1650" dirty="0">
                <a:solidFill>
                  <a:srgbClr val="9489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Notes: [paste anonymized notes here]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685800" y="571500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C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This is the kind of task where AI helps you notice what is missing.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2062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9489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EXAMPLE 03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774375" y="420624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9489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85800" y="114300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700" dirty="0">
                <a:solidFill>
                  <a:srgbClr val="2B24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a first-pass </a:t>
            </a:r>
            <a:pPr indent="0" marL="0">
              <a:buNone/>
            </a:pPr>
            <a:r>
              <a:rPr lang="en-US" sz="3700" i="1" dirty="0">
                <a:solidFill>
                  <a:srgbClr val="A957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wedding-day timeline.</a:t>
            </a:r>
            <a:endParaRPr lang="en-US" sz="3700" dirty="0"/>
          </a:p>
        </p:txBody>
      </p:sp>
      <p:sp>
        <p:nvSpPr>
          <p:cNvPr id="5" name="Shape 3"/>
          <p:cNvSpPr/>
          <p:nvPr/>
        </p:nvSpPr>
        <p:spPr>
          <a:xfrm>
            <a:off x="685800" y="2468880"/>
            <a:ext cx="10820095" cy="2880360"/>
          </a:xfrm>
          <a:prstGeom prst="rect">
            <a:avLst/>
          </a:prstGeom>
          <a:solidFill>
            <a:srgbClr val="F0E7DD"/>
          </a:solidFill>
          <a:ln w="12700">
            <a:solidFill>
              <a:srgbClr val="E4DAC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3000" y="27889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A957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COPY / PASTE THIS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143000" y="3246120"/>
            <a:ext cx="9905695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650" dirty="0">
                <a:solidFill>
                  <a:srgbClr val="2B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a first-draft wedding-day timeline for a 120-person outdoor wedding. Ceremony is at 5:30 p.m.; family photos happen before the ceremony; dinner follows cocktail hour; the exit is at 10:00 p.m. Include vendor arrival times, key handoffs, and a short rain-plan checklist. Make assumptions visible so I can adjust them.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685800" y="571500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C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first draft is not a final schedule. It is a faster place to begin.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2062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9489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IT WISELY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774375" y="420624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9489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85800" y="114300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700" dirty="0">
                <a:solidFill>
                  <a:srgbClr val="2B24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simple </a:t>
            </a:r>
            <a:pPr indent="0" marL="0">
              <a:buNone/>
            </a:pPr>
            <a:r>
              <a:rPr lang="en-US" sz="3700" i="1" dirty="0">
                <a:solidFill>
                  <a:srgbClr val="A957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guardrails.</a:t>
            </a:r>
            <a:endParaRPr lang="en-US" sz="3700" dirty="0"/>
          </a:p>
        </p:txBody>
      </p:sp>
      <p:sp>
        <p:nvSpPr>
          <p:cNvPr id="5" name="Text 3"/>
          <p:cNvSpPr/>
          <p:nvPr/>
        </p:nvSpPr>
        <p:spPr>
          <a:xfrm>
            <a:off x="685800" y="267004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A957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371600" y="26517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2B24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Protect privacy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4937760" y="2679192"/>
            <a:ext cx="6309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600" dirty="0">
                <a:solidFill>
                  <a:srgbClr val="5C53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Remove names, financial information, contracts, and sensitive details before pasting anything in.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85800" y="3584448"/>
            <a:ext cx="10820095" cy="0"/>
          </a:xfrm>
          <a:prstGeom prst="line">
            <a:avLst/>
          </a:prstGeom>
          <a:noFill/>
          <a:ln w="9525">
            <a:solidFill>
              <a:srgbClr val="E4DAC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376732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A957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371600" y="37490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2B24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Verify the details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4937760" y="3776472"/>
            <a:ext cx="6309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600" dirty="0">
                <a:solidFill>
                  <a:srgbClr val="5C53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can sound certain and still be wrong. Check dates, pricing, vendor facts, and logistics.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85800" y="4681728"/>
            <a:ext cx="10820095" cy="0"/>
          </a:xfrm>
          <a:prstGeom prst="line">
            <a:avLst/>
          </a:prstGeom>
          <a:noFill/>
          <a:ln w="9525">
            <a:solidFill>
              <a:srgbClr val="E4DAC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486460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A957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371600" y="48463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2B24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Keep your voice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4937760" y="4873752"/>
            <a:ext cx="6309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600" dirty="0">
                <a:solidFill>
                  <a:srgbClr val="5C53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the draft as raw material. Your judgment and relationships are the actual value.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822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9489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SMALL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1828800"/>
            <a:ext cx="10058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5000" dirty="0">
                <a:solidFill>
                  <a:srgbClr val="2B24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Pick one repeated task
</a:t>
            </a:r>
            <a:pPr indent="0" marL="0">
              <a:lnSpc>
                <a:spcPct val="103000"/>
              </a:lnSpc>
              <a:buNone/>
            </a:pPr>
            <a:r>
              <a:rPr lang="en-US" sz="5000" i="1" dirty="0">
                <a:solidFill>
                  <a:srgbClr val="A957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this week.</a:t>
            </a:r>
            <a:endParaRPr lang="en-US" sz="5000" dirty="0"/>
          </a:p>
        </p:txBody>
      </p:sp>
      <p:sp>
        <p:nvSpPr>
          <p:cNvPr id="4" name="Text 2"/>
          <p:cNvSpPr/>
          <p:nvPr/>
        </p:nvSpPr>
        <p:spPr>
          <a:xfrm>
            <a:off x="685800" y="41148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200" i="1" dirty="0">
                <a:solidFill>
                  <a:srgbClr val="5C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 AI to create a first draft.
</a:t>
            </a:r>
            <a:pPr indent="0" marL="0">
              <a:lnSpc>
                <a:spcPct val="120000"/>
              </a:lnSpc>
              <a:buNone/>
            </a:pPr>
            <a:r>
              <a:rPr lang="en-US" sz="2200" i="1" dirty="0">
                <a:solidFill>
                  <a:srgbClr val="5C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Keep what helps. Change what doesn’t.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0561320" y="4343400"/>
            <a:ext cx="457200" cy="457200"/>
          </a:xfrm>
          <a:prstGeom prst="diamond">
            <a:avLst/>
          </a:prstGeom>
          <a:solidFill>
            <a:srgbClr val="A9573F"/>
          </a:solidFill>
          <a:ln/>
        </p:spPr>
      </p:sp>
      <p:sp>
        <p:nvSpPr>
          <p:cNvPr id="6" name="Shape 4"/>
          <p:cNvSpPr/>
          <p:nvPr/>
        </p:nvSpPr>
        <p:spPr>
          <a:xfrm>
            <a:off x="10716768" y="5193792"/>
            <a:ext cx="256032" cy="256032"/>
          </a:xfrm>
          <a:prstGeom prst="diamond">
            <a:avLst/>
          </a:prstGeom>
          <a:ln w="15875">
            <a:solidFill>
              <a:srgbClr val="A9573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59436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00" kern="0" dirty="0">
                <a:solidFill>
                  <a:srgbClr val="9489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time for the work only you can do.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2026-08-26T12:20:37Z</dcterms:created>
  <dcterms:modified xsi:type="dcterms:W3CDTF">2026-08-26T12:20:37Z</dcterms:modified>
</cp:coreProperties>
</file>